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4cfc9984e54b60" /><Relationship Type="http://schemas.openxmlformats.org/officeDocument/2006/relationships/extended-properties" Target="/docProps/app.xml" Id="Rd0f63f930a124356" /><Relationship Type="http://schemas.openxmlformats.org/officeDocument/2006/relationships/officeDocument" Target="/ppt/presentation.xml" Id="Rb7d42f98696542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aea732215e4e63"/>
  </p:sldMasterIdLst>
  <p:notesMasterIdLst>
    <p:notesMasterId xmlns:r="http://schemas.openxmlformats.org/officeDocument/2006/relationships" r:id="R67612a3f32744919"/>
  </p:notesMasterIdLst>
  <p:sldIdLst>
    <p:sldId xmlns:r="http://schemas.openxmlformats.org/officeDocument/2006/relationships" id="256" r:id="Re648a00fbc82439a"/>
    <p:sldId xmlns:r="http://schemas.openxmlformats.org/officeDocument/2006/relationships" id="257" r:id="R07e201a336bf4043"/>
    <p:sldId xmlns:r="http://schemas.openxmlformats.org/officeDocument/2006/relationships" id="258" r:id="Rae1327e58c724d33"/>
    <p:sldId xmlns:r="http://schemas.openxmlformats.org/officeDocument/2006/relationships" id="259" r:id="R47b62ef592444f28"/>
    <p:sldId xmlns:r="http://schemas.openxmlformats.org/officeDocument/2006/relationships" id="260" r:id="R4084d39727624086"/>
    <p:sldId xmlns:r="http://schemas.openxmlformats.org/officeDocument/2006/relationships" id="261" r:id="R6103075a3d954574"/>
    <p:sldId xmlns:r="http://schemas.openxmlformats.org/officeDocument/2006/relationships" id="262" r:id="R4c5a73203d1a49d2"/>
    <p:sldId xmlns:r="http://schemas.openxmlformats.org/officeDocument/2006/relationships" id="263" r:id="Rfbc31ad8b59a4de3"/>
    <p:sldId xmlns:r="http://schemas.openxmlformats.org/officeDocument/2006/relationships" id="264" r:id="R52b654e6fc064b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010076b67c4e56" /><Relationship Type="http://schemas.openxmlformats.org/officeDocument/2006/relationships/slideMaster" Target="/ppt/slideMasters/slideMaster1.xml" Id="Rbeaea732215e4e63" /><Relationship Type="http://schemas.openxmlformats.org/officeDocument/2006/relationships/notesMaster" Target="/ppt/notesMasters/notesMaster1.xml" Id="R67612a3f32744919" /><Relationship Type="http://schemas.openxmlformats.org/officeDocument/2006/relationships/presProps" Target="/ppt/presProps.xml" Id="R790df0ae1dfe4c65" /><Relationship Type="http://schemas.openxmlformats.org/officeDocument/2006/relationships/tableStyles" Target="/ppt/tableStyles.xml" Id="Raf6bf737ac1743cd" /><Relationship Type="http://schemas.openxmlformats.org/officeDocument/2006/relationships/slide" Target="/ppt/slides/slide1.xml" Id="Re648a00fbc82439a" /><Relationship Type="http://schemas.openxmlformats.org/officeDocument/2006/relationships/slide" Target="/ppt/slides/slide2.xml" Id="R07e201a336bf4043" /><Relationship Type="http://schemas.openxmlformats.org/officeDocument/2006/relationships/slide" Target="/ppt/slides/slide3.xml" Id="Rae1327e58c724d33" /><Relationship Type="http://schemas.openxmlformats.org/officeDocument/2006/relationships/slide" Target="/ppt/slides/slide4.xml" Id="R47b62ef592444f28" /><Relationship Type="http://schemas.openxmlformats.org/officeDocument/2006/relationships/slide" Target="/ppt/slides/slide5.xml" Id="R4084d39727624086" /><Relationship Type="http://schemas.openxmlformats.org/officeDocument/2006/relationships/slide" Target="/ppt/slides/slide6.xml" Id="R6103075a3d954574" /><Relationship Type="http://schemas.openxmlformats.org/officeDocument/2006/relationships/slide" Target="/ppt/slides/slide7.xml" Id="R4c5a73203d1a49d2" /><Relationship Type="http://schemas.openxmlformats.org/officeDocument/2006/relationships/slide" Target="/ppt/slides/slide8.xml" Id="Rfbc31ad8b59a4de3" /><Relationship Type="http://schemas.openxmlformats.org/officeDocument/2006/relationships/slide" Target="/ppt/slides/slide9.xml" Id="R52b654e6fc064b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3552dde4e048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d79beaf512438a" /><Relationship Type="http://schemas.openxmlformats.org/officeDocument/2006/relationships/notesMaster" Target="/ppt/notesMasters/notesMaster1.xml" Id="Re2b94ff6117e47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9bdc9e282e4cd8" /><Relationship Type="http://schemas.openxmlformats.org/officeDocument/2006/relationships/notesMaster" Target="/ppt/notesMasters/notesMaster1.xml" Id="Rde4931d34dea4f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9727922d7e4272" /><Relationship Type="http://schemas.openxmlformats.org/officeDocument/2006/relationships/notesMaster" Target="/ppt/notesMasters/notesMaster1.xml" Id="Racc18893d88048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21002ae12a4f0f" /><Relationship Type="http://schemas.openxmlformats.org/officeDocument/2006/relationships/notesMaster" Target="/ppt/notesMasters/notesMaster1.xml" Id="Racb3d6b7594946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1776f979ea4099" /><Relationship Type="http://schemas.openxmlformats.org/officeDocument/2006/relationships/notesMaster" Target="/ppt/notesMasters/notesMaster1.xml" Id="R1d58b549514949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55f835009540dc" /><Relationship Type="http://schemas.openxmlformats.org/officeDocument/2006/relationships/notesMaster" Target="/ppt/notesMasters/notesMaster1.xml" Id="Rb9ee01508cce4f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07a411194f4f39" /><Relationship Type="http://schemas.openxmlformats.org/officeDocument/2006/relationships/notesMaster" Target="/ppt/notesMasters/notesMaster1.xml" Id="R29bcd4fa69a94f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877c842ef946b1" /><Relationship Type="http://schemas.openxmlformats.org/officeDocument/2006/relationships/notesMaster" Target="/ppt/notesMasters/notesMaster1.xml" Id="R6d052836e2154d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f9dc461c844e2a" /><Relationship Type="http://schemas.openxmlformats.org/officeDocument/2006/relationships/notesMaster" Target="/ppt/notesMasters/notesMaster1.xml" Id="R1dc120569bde44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https://learn.chatgpt.com/docs/agent-configuration/subagents?surface=app</a:t>
            </a:r>
          </a:p>
          <a:p xmlns:a="http://schemas.openxmlformats.org/drawingml/2006/main">
            <a:r>
              <a:t>Summary of the OpenAI ChatGPT Learn Subagents guide, accessed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0d2a685674d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bbc2a647ee4a17" /><Relationship Type="http://schemas.openxmlformats.org/officeDocument/2006/relationships/slideLayout" Target="/ppt/slideLayouts/slideLayout1.xml" Id="R8a17343e262b44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7343e262b44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2179c3c014188" /><Relationship Type="http://schemas.openxmlformats.org/officeDocument/2006/relationships/notesSlide" Target="/ppt/notesSlides/notesSlide1.xml" Id="R1aefa0c89e5442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e52ddfabf4de0" /><Relationship Type="http://schemas.openxmlformats.org/officeDocument/2006/relationships/notesSlide" Target="/ppt/notesSlides/notesSlide2.xml" Id="R906f8b23424342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4e0f2b9884cfa" /><Relationship Type="http://schemas.openxmlformats.org/officeDocument/2006/relationships/notesSlide" Target="/ppt/notesSlides/notesSlide3.xml" Id="Rc00d1cd9067a4b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4733861b6483a" /><Relationship Type="http://schemas.openxmlformats.org/officeDocument/2006/relationships/notesSlide" Target="/ppt/notesSlides/notesSlide4.xml" Id="R7e1495158daa4b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1b51bd1454a15" /><Relationship Type="http://schemas.openxmlformats.org/officeDocument/2006/relationships/notesSlide" Target="/ppt/notesSlides/notesSlide5.xml" Id="R58f4b489655143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e511f24884abe" /><Relationship Type="http://schemas.openxmlformats.org/officeDocument/2006/relationships/notesSlide" Target="/ppt/notesSlides/notesSlide6.xml" Id="Ra1282ed25a2149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8257a5bb84f75" /><Relationship Type="http://schemas.openxmlformats.org/officeDocument/2006/relationships/notesSlide" Target="/ppt/notesSlides/notesSlide7.xml" Id="Rf3cf52872afa4c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324eadb0b4a9c" /><Relationship Type="http://schemas.openxmlformats.org/officeDocument/2006/relationships/notesSlide" Target="/ppt/notesSlides/notesSlide8.xml" Id="R769fbca883414b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95719a25240c5" /><Relationship Type="http://schemas.openxmlformats.org/officeDocument/2006/relationships/notesSlide" Target="/ppt/notesSlides/notesSlide9.xml" Id="Ra8e05ca8985b41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B321B-7EC5-4BCB-9F09-3E8DC01B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D5C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D5C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C6D6A-1934-4620-97F9-48D4A414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69912-6DF6-4663-9EA6-AD404E2E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CCEBE6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CCEBE6"/>
                </a:solidFill>
                <a:latin typeface="Arial"/>
                <a:ea typeface="Arial"/>
                <a:cs typeface="Arial"/>
              </a:rPr>
              <a:t>in ChatGPT and Codex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19AC7-E412-4358-87E5-AC053945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practical guide to delegation and custom Codex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C2B0E-9C5E-4458-9BDF-5BE526E5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D5C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D5CF"/>
                </a:solidFill>
                <a:latin typeface="Arial"/>
                <a:ea typeface="Arial"/>
                <a:cs typeface="Arial"/>
              </a:rPr>
              <a:t>Based on ChatGPT Learn · 28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869305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4465D-F1FD-4322-9B9B-A951B04B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What a subagent workflow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04B16-9D18-431E-A17D-932F456B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3F728-E1E7-420A-8430-0C78B86F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The main agent splits a task into bounded parts, runs specialized agents in parallel, then combines their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609AE-752C-47AA-90DB-4FE7E657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WHY IT HELPS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41D2A-DD1B-493A-B0DA-4C988A9A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1009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Noisy exploration, test logs and research stay in agent threads. The main chat keeps the requirements and final decisions in 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FD5F0-BC94-45C7-862A-35C27A2D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TRADE-OFF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95DFE-93A4-459C-BF7B-D6C86091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Each subagent performs its own model and tool work, so delegation uses more tokens than a comparable single-agent run.</a:t>
            </a:r>
          </a:p>
        </p:txBody>
      </p:sp>
    </p:spTree>
    <p:extLst>
      <p:ext uri="{BB962C8B-B14F-4D97-AF65-F5344CB8AC3E}">
        <p14:creationId xmlns:p14="http://schemas.microsoft.com/office/powerpoint/2010/main" val="606328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E32A8-C48A-4C11-B60E-28E950A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Where delegation helps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F5BB5-714E-43E0-80E7-BAE76B09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57ECF-1E97-413E-A337-AFA5AE8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0495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7790A-D76B-4413-9AC1-C363CCE5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04950"/>
            <a:ext cx="928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Read-heavy exploration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27AEB-8A32-439A-8E95-4729D2C4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716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Map code paths or split a very large document into sections.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847BB-9E86-4879-B890-38226CD5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43225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DC9D6-136A-4078-9828-32B7EBC5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43225"/>
            <a:ext cx="928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Independent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3D84B-B91F-4678-A112-72FE3DB1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9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Run separate reviews for security, bugs or test gaps.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9BB91-8B28-471D-B91B-89B721B4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815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718D5-DFE1-4939-8719-EA33F4ED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81500"/>
            <a:ext cx="928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Specialist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68C76-8028-4AB9-A661-A26BBA1A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482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Let one agent verify documentation while another examines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918C7-4FD5-4370-86AE-97CA67DB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Parallel code edits need coordination because agents share the same working files.</a:t>
            </a:r>
          </a:p>
        </p:txBody>
      </p:sp>
    </p:spTree>
    <p:extLst>
      <p:ext uri="{BB962C8B-B14F-4D97-AF65-F5344CB8AC3E}">
        <p14:creationId xmlns:p14="http://schemas.microsoft.com/office/powerpoint/2010/main" val="1467537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97AC8-BEEB-4593-97CF-96EE21E1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How to request subagents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2C243-BFB0-43C0-BBA8-FF96E340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D461C-0D94-41B7-BC40-0C876293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Ask directly for independent work, state the split, and say when to combine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C3683-817B-4BED-8B13-CBBAA969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AEBF2-BFC9-4CD9-B7A3-4BB3E50D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382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83A"/>
                </a:solidFill>
                <a:latin typeface="Arial"/>
                <a:ea typeface="Arial"/>
                <a:cs typeface="Arial"/>
              </a:rPr>
              <a:t>“Review this branch with one agent for security risks, one for test gaps, and one for maintainability. Wait for all three, then summarize findings with file references.”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BF222-4BCF-4629-B95C-DC4355AA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WHERE ACTIVITY APPEARS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209BD-7161-4BF1-B089-57F0B643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ChatGPT Work shows hosted agent activity. Codex surfaces agent threads in the desktop app, CLI and IDE extension. In CLI, /agent opens and switches threads.</a:t>
            </a:r>
          </a:p>
        </p:txBody>
      </p:sp>
    </p:spTree>
    <p:extLst>
      <p:ext uri="{BB962C8B-B14F-4D97-AF65-F5344CB8AC3E}">
        <p14:creationId xmlns:p14="http://schemas.microsoft.com/office/powerpoint/2010/main" val="1000885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9DA30-91F0-4E3A-8987-C9AE27A9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Model and reasoning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8F32B-2FF6-46D0-AE3E-CB38D297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7E27D-6831-431C-9072-3477634C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Without an override, a subagent inherits the parent model and reasoning effort.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D6C5E-1B62-484C-83C0-FDABADED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SUGGESTED STARTING POINTS IN THE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BF619-820C-4FD1-8985-D4E68CD9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GPT-6 Sol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88CAE-916E-4B8F-94F1-2A4F6913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Ambiguous, multi-step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49B70-FF14-45C6-89DF-F3E76EDA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432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GPT-6 Luna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93F41-ABEC-404C-96D8-B8B52CD6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Fast, narrow, repeatable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AB23E-0CC9-4127-BD07-9C91D2FC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Reasoning effort increases response time and token use, but can help with complex logic and edge cases.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E4CBE-E895-48EF-9D55-E6F0C867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Choose a supported effort for the selected model.</a:t>
            </a:r>
          </a:p>
        </p:txBody>
      </p:sp>
    </p:spTree>
    <p:extLst>
      <p:ext uri="{BB962C8B-B14F-4D97-AF65-F5344CB8AC3E}">
        <p14:creationId xmlns:p14="http://schemas.microsoft.com/office/powerpoint/2010/main" val="72345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15B90-AC6A-43CB-81E1-60A57F26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Custom Codex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9E710-6960-40C8-BF26-D1279D33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7C614-8633-4197-8A53-E78C29BC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430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Define a narrow role in a standalone TOML 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F2DD6-EFDC-4DBC-8E99-9A33F041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FILE LOCATIONS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47126-5BEF-4E16-BBF3-1F0D95FE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A"/>
                </a:solidFill>
                <a:latin typeface="Arial"/>
                <a:ea typeface="Arial"/>
                <a:cs typeface="Arial"/>
              </a:rPr>
              <a:t>Personal  ~/.codex/agents/</a:t>
            </a:r>
          </a:p>
          <a:p xmlns:a="http://schemas.openxmlformats.org/drawingml/2006/main">
            <a:pPr>
              <a:defRPr sz="1875" b="0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A"/>
                </a:solidFill>
                <a:latin typeface="Arial"/>
                <a:ea typeface="Arial"/>
                <a:cs typeface="Arial"/>
              </a:rPr>
              <a:t>Project   .codex/agents/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B865B-E57B-4E94-8796-65485CCB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REQUIRED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A4876-89DD-423B-995F-E450EE77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6191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A"/>
                </a:solidFill>
                <a:latin typeface="Arial"/>
                <a:ea typeface="Arial"/>
                <a:cs typeface="Arial"/>
              </a:rPr>
              <a:t>name</a:t>
            </a:r>
          </a:p>
          <a:p xmlns:a="http://schemas.openxmlformats.org/drawingml/2006/main">
            <a:pPr>
              <a:defRPr sz="1875" b="0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A"/>
                </a:solidFill>
                <a:latin typeface="Arial"/>
                <a:ea typeface="Arial"/>
                <a:cs typeface="Arial"/>
              </a:rPr>
              <a:t>description</a:t>
            </a:r>
          </a:p>
          <a:p xmlns:a="http://schemas.openxmlformats.org/drawingml/2006/main">
            <a:pPr>
              <a:defRPr sz="1875" b="0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A"/>
                </a:solidFill>
                <a:latin typeface="Arial"/>
                <a:ea typeface="Arial"/>
                <a:cs typeface="Arial"/>
              </a:rPr>
              <a:t>developer_instructions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20476-490A-4C5F-8957-77BE2A6D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Optional settings include model, model_reasoning_effort, sandbox_mode, mcp_servers and skills.config.</a:t>
            </a:r>
          </a:p>
        </p:txBody>
      </p:sp>
    </p:spTree>
    <p:extLst>
      <p:ext uri="{BB962C8B-B14F-4D97-AF65-F5344CB8AC3E}">
        <p14:creationId xmlns:p14="http://schemas.microsoft.com/office/powerpoint/2010/main" val="12846468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006EC-1089-45E5-8B4B-BF8CDC50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Configuration and inheritance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44FFB-8686-45A7-B3AF-B5B02AEC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58C4A-A200-47E9-9438-5525ABEC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[agents] in config.toml sets defaults for spawned agents and the concurrency cap.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BB4CB-6B0E-4113-B79D-7CB92127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MODEL SETTING ORDER BEFORE A CUSTOM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A35EF-DDBC-4B15-8F24-B76C4AE8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4191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Explicit spawn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C82A6-203F-437E-882F-96F399D9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4191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[agents] default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3530F-08A4-46B5-B396-81BEB168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4191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Parent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D68ED-7C9F-4A9A-918B-195FD238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00375"/>
            <a:ext cx="5619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A custom agent file can override the resolved model or effort. Omitted session settings inherit from the parent.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62D46-C957-4C7C-9EA8-C0EACB3D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Useful [agents] keys: enabled, max_concurrent_threads_per_session, default_subagent_model, default_subagent_reasoning_effort.</a:t>
            </a:r>
          </a:p>
        </p:txBody>
      </p:sp>
    </p:spTree>
    <p:extLst>
      <p:ext uri="{BB962C8B-B14F-4D97-AF65-F5344CB8AC3E}">
        <p14:creationId xmlns:p14="http://schemas.microsoft.com/office/powerpoint/2010/main" val="342542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0948E-7B09-4009-8671-076A4D9D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Orchestration and thread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47A0B-6230-4D61-ABAA-65BAE75B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91F29-0504-41AB-B8C3-635D3733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ORCHESTRATION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F3360-D0A0-40CD-A01B-F522F80E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ChatGPT or Codex coordinates the workflow: it starts agents, routes follow-up instructions, waits for results and combines them. When several agents are requested, it waits for all of them before returning the summary.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A10F3-B542-4DE8-8186-8A9DF89E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038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ChatGPT usually delegates after a direct request. Ultra can delegate proactively when parallel work helps. Local Codex delegates after a direct request or applicable project or skill instructions.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A8464-B723-43D9-9ACC-0233D038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THREAD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60B59-2BFD-49DE-8DA6-C0B75D37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Open an agent thread to inspect its work. Ask Codex to steer a running agent, stop it or close a completed thread. In CLI, use /agent to inspect and switch between threads.</a:t>
            </a:r>
          </a:p>
        </p:txBody>
      </p:sp>
    </p:spTree>
    <p:extLst>
      <p:ext uri="{BB962C8B-B14F-4D97-AF65-F5344CB8AC3E}">
        <p14:creationId xmlns:p14="http://schemas.microsoft.com/office/powerpoint/2010/main" val="7543674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03158-2556-48AA-A837-C9E7AC1F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83A"/>
                </a:solidFill>
                <a:latin typeface="Arial"/>
                <a:ea typeface="Arial"/>
                <a:cs typeface="Arial"/>
              </a:rPr>
              <a:t>Operating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EB8C3-3E1D-4266-9A0F-FCE6F7D7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B9735-4D62-4969-AA45-B08521A0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INSPECT AND STEER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338C8-7F36-4319-B68C-76AFFA3B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Open an agent thread to inspect progress. Ask Codex to steer or stop a running subagent. The main agent waits for requested results and returns a combined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6A88D-1F1F-4E0D-B811-7B879D18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PERMISSIONS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C2070-5B6C-4671-9DB5-63BBCCC8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5"/>
                </a:solidFill>
                <a:latin typeface="Arial"/>
                <a:ea typeface="Arial"/>
                <a:cs typeface="Arial"/>
              </a:rPr>
              <a:t>Subagents inherit the parent permission mode. A required approval can interrupt or fail when a run cannot surface a fresh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4D3D6-27F3-417B-A8CA-8337D419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4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9894C-1DB0-4447-A799-AAA6D00B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ChatGPT Learn — Subagents</a:t>
            </a:r>
          </a:p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0"/>
                </a:solidFill>
                <a:latin typeface="Arial"/>
                <a:ea typeface="Arial"/>
                <a:cs typeface="Arial"/>
              </a:rPr>
              <a:t>learn.chatgpt.com/docs/agent-configuration/subagents</a:t>
            </a:r>
          </a:p>
        </p:txBody>
      </p:sp>
    </p:spTree>
    <p:extLst>
      <p:ext uri="{BB962C8B-B14F-4D97-AF65-F5344CB8AC3E}">
        <p14:creationId xmlns:p14="http://schemas.microsoft.com/office/powerpoint/2010/main" val="591979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2026-09-28T15:19:05.7200000Z</dcterms:created>
  <dcterms:modified xsi:type="dcterms:W3CDTF">2026-09-28T15:19:05.7210000Z</dcterms:modified>
</coreProperties>
</file>